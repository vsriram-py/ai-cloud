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074074"/>
            <a:ext cx="80010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000000"/>
                </a:solidFill>
              </a:rPr>
              <a:t>Deep Research Multi-Agent System (DR-MAS)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370902" y="2222767"/>
            <a:ext cx="640219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3333"/>
                </a:solidFill>
              </a:rPr>
              <a:t>Project Kickoff: System 2 Reasoning Applications on GCP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1714500" y="3449706"/>
            <a:ext cx="2571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Target Audience: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1714500" y="3680092"/>
            <a:ext cx="23034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Data Scientists, Research Analysts,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714500" y="3874759"/>
            <a:ext cx="52249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DevOps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57750" y="3449706"/>
            <a:ext cx="2571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Goal: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857750" y="3680092"/>
            <a:ext cx="255517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Autonomous, verifiable deep research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857750" y="3874759"/>
            <a:ext cx="156392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and insight generation.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F52BA"/>
                </a:solidFill>
              </a:rPr>
              <a:t>The Epic: Elevating AI Research to System 2 Reasoning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812602"/>
            <a:ext cx="4629150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Problem: Current AI research lacks the rigor, self-correction, and verifiable accuracy required for high-stakes, open-ended problems.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539478"/>
            <a:ext cx="462915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**Solution:** Implement a sophisticated, GCP-native multi-agent system for autonomous deep research.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103834"/>
            <a:ext cx="4629150" cy="29110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The "Why"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2502098"/>
            <a:ext cx="12724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F52BA"/>
                </a:solidFill>
              </a:rPr>
              <a:t>►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14375" y="2516386"/>
            <a:ext cx="4068394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**Elevate Quality:** Move beyond simple retrieval to true analytical reasoning and synthesis.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2984971"/>
            <a:ext cx="12724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F52BA"/>
                </a:solidFill>
              </a:rPr>
              <a:t>►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714375" y="2999259"/>
            <a:ext cx="4452091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**Reduce Time:** Significantly reduce manual research time and improve decision quality.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571500" y="3467844"/>
            <a:ext cx="12724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F52BA"/>
                </a:solidFill>
              </a:rPr>
              <a:t>►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714375" y="3482132"/>
            <a:ext cx="3844649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**Establish Leadership:** Position our platform as the leader in enterprise-grade, verifiable AI research.</a:t>
            </a:r>
            <a:endParaRPr lang="en-US" sz="942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812602"/>
            <a:ext cx="3086100" cy="39290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F52BA"/>
                </a:solidFill>
              </a:rPr>
              <a:t>Core Architecture: Collaborative Agents on Vertex AI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812602"/>
            <a:ext cx="46291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Architecture: Hierarchical Multi-Agent System using the **Agent-to-Agent (A2A) Protocol** on Vertex AI Agent Engine.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8644" y="1351955"/>
            <a:ext cx="839921" cy="477180"/>
          </a:xfrm>
          <a:prstGeom prst="rect">
            <a:avLst/>
          </a:prstGeom>
          <a:solidFill>
            <a:srgbClr val="0F52BA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8644" y="1351955"/>
            <a:ext cx="839921" cy="47718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2F2F2"/>
                </a:solidFill>
              </a:rPr>
              <a:t>Agent Role</a:t>
            </a:r>
            <a:endParaRPr lang="en-US" sz="784" dirty="0"/>
          </a:p>
        </p:txBody>
      </p:sp>
      <p:sp>
        <p:nvSpPr>
          <p:cNvPr id="7" name="Shape 4"/>
          <p:cNvSpPr/>
          <p:nvPr/>
        </p:nvSpPr>
        <p:spPr>
          <a:xfrm>
            <a:off x="1413542" y="1351955"/>
            <a:ext cx="2323309" cy="470036"/>
          </a:xfrm>
          <a:prstGeom prst="rect">
            <a:avLst/>
          </a:prstGeom>
          <a:solidFill>
            <a:srgbClr val="0F52BA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13542" y="1351955"/>
            <a:ext cx="2323309" cy="47003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2F2F2"/>
                </a:solidFill>
              </a:rPr>
              <a:t>Core Function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3735177" y="1351955"/>
            <a:ext cx="1458330" cy="470036"/>
          </a:xfrm>
          <a:prstGeom prst="rect">
            <a:avLst/>
          </a:prstGeom>
          <a:solidFill>
            <a:srgbClr val="0F52BA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35177" y="1351955"/>
            <a:ext cx="1458330" cy="47003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2F2F2"/>
                </a:solidFill>
              </a:rPr>
              <a:t>Model Strategy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78644" y="1814847"/>
            <a:ext cx="829819" cy="47718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Researcher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1408463" y="1814847"/>
            <a:ext cx="2326714" cy="47718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Data gathering, BigQuery/Vertex Search tool use.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3735177" y="1814847"/>
            <a:ext cx="1458330" cy="47718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F52BA"/>
                </a:solidFill>
              </a:rPr>
              <a:t>Gemini 1.5 Flash (Speed)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578644" y="2292028"/>
            <a:ext cx="829819" cy="47718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Critic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1408463" y="2292028"/>
            <a:ext cx="2326714" cy="47718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Factual validation, self-correction loop trigger.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3735177" y="2292028"/>
            <a:ext cx="1458330" cy="47718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F52BA"/>
                </a:solidFill>
              </a:rPr>
              <a:t>Gemini 1.5 Pro (Reasoning)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578644" y="2769208"/>
            <a:ext cx="829819" cy="47718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Synthesizer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1408463" y="2769208"/>
            <a:ext cx="2326714" cy="47718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Aggregation, long-context data processing.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3735177" y="2769208"/>
            <a:ext cx="1458330" cy="47718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F52BA"/>
                </a:solidFill>
              </a:rPr>
              <a:t>Gemini 1.5 Pro (Synthesis)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578644" y="3246388"/>
            <a:ext cx="829819" cy="47718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Reviewer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1408463" y="3246388"/>
            <a:ext cx="2326714" cy="47718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Final quality gate, objective alignment check.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3735177" y="3246388"/>
            <a:ext cx="1458330" cy="47718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F52BA"/>
                </a:solidFill>
              </a:rPr>
              <a:t>Gemini 1.5 Pro (Alignment)</a:t>
            </a:r>
            <a:endParaRPr lang="en-US" sz="784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812602"/>
            <a:ext cx="3086100" cy="39290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F52BA"/>
                </a:solidFill>
              </a:rPr>
              <a:t>User Story 1: Autonomous Deep Research Execution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800100" y="884039"/>
            <a:ext cx="37719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F52BA"/>
                </a:solidFill>
              </a:rPr>
              <a:t>User &amp; Goal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800100" y="1076920"/>
            <a:ext cx="37719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Research Analyst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800100" y="1396603"/>
            <a:ext cx="37719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Submit a complex, open-ended research question and receive a comprehensive, synthesized report without manual intervention.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571500" y="2260997"/>
            <a:ext cx="4000500" cy="229850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85813" y="2475309"/>
            <a:ext cx="3571875" cy="27324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2F2F2"/>
                </a:solidFill>
              </a:rPr>
              <a:t>Technical Requirements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785813" y="2891433"/>
            <a:ext cx="35718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52BA"/>
                </a:solidFill>
              </a:rPr>
              <a:t>Orchestration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785813" y="3084314"/>
            <a:ext cx="31148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2F2F2"/>
                </a:solidFill>
              </a:rPr>
              <a:t>Full Research → Critique → Synthesis → Review flow using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785813" y="3239691"/>
            <a:ext cx="8985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2F2F2"/>
                </a:solidFill>
              </a:rPr>
              <a:t>ADK/LangGraph.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785813" y="3537942"/>
            <a:ext cx="35718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52BA"/>
                </a:solidFill>
              </a:rPr>
              <a:t>State Management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785813" y="3721894"/>
            <a:ext cx="31767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2F2F2"/>
                </a:solidFill>
              </a:rPr>
              <a:t>Robust state persistence using Cloud SQL/AlloyDB for long-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785813" y="3877270"/>
            <a:ext cx="7658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2F2F2"/>
                </a:solidFill>
              </a:rPr>
              <a:t>running tasks.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785813" y="4246959"/>
            <a:ext cx="103305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F52BA"/>
                </a:solidFill>
              </a:rPr>
              <a:t>&lt; 15 MIN</a:t>
            </a:r>
            <a:endParaRPr lang="en-US" sz="1602" dirty="0"/>
          </a:p>
        </p:txBody>
      </p:sp>
      <p:sp>
        <p:nvSpPr>
          <p:cNvPr id="16" name="Text 13"/>
          <p:cNvSpPr/>
          <p:nvPr/>
        </p:nvSpPr>
        <p:spPr>
          <a:xfrm>
            <a:off x="1926022" y="4335363"/>
            <a:ext cx="13724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2F2F2"/>
                </a:solidFill>
              </a:rPr>
              <a:t>Target Research Latency</a:t>
            </a:r>
            <a:endParaRPr lang="en-US" sz="683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5" y="884039"/>
            <a:ext cx="3571875" cy="39290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F52BA"/>
                </a:solidFill>
              </a:rPr>
              <a:t>User Story 2: Accuracy &amp; Self-Correction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812602"/>
            <a:ext cx="4164806" cy="78759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955477"/>
            <a:ext cx="38790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52BA"/>
                </a:solidFill>
              </a:rPr>
              <a:t>User: Quality Assurance Manager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714375" y="1146572"/>
            <a:ext cx="36038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2F2F2"/>
                </a:solidFill>
              </a:rPr>
              <a:t>Goal: Critic agent automatically validates findings and triggers a re-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714375" y="1301948"/>
            <a:ext cx="17705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2F2F2"/>
                </a:solidFill>
              </a:rPr>
              <a:t>research loop if errors are found.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71500" y="1814513"/>
            <a:ext cx="4164806" cy="29110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Key Technical Requirements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2248495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F52BA"/>
                </a:solidFill>
              </a:rPr>
              <a:t>→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750094" y="2262783"/>
            <a:ext cx="3856481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**Critique Pipeline:** A2A Protocol communication for targeted correction requests between Critic and Researcher.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571500" y="2767087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F52BA"/>
                </a:solidFill>
              </a:rPr>
              <a:t>→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750094" y="2781374"/>
            <a:ext cx="3873196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**Model Balancing:** Dynamic routing of high-stakes validation tasks to **Gemini 1.5 Pro** for superior reasoning.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71500" y="3285679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F52BA"/>
                </a:solidFill>
              </a:rPr>
              <a:t>→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750094" y="3299966"/>
            <a:ext cx="3687263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**Reflection Loop:** Automated re-triggering of search tools based on Critic feedback to resolve inaccuracies.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571500" y="4018583"/>
            <a:ext cx="3493991" cy="45720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52BA"/>
                </a:solidFill>
              </a:rPr>
              <a:t>Pass/Fail Metric: </a:t>
            </a:r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52BA"/>
                </a:solidFill>
              </a:rPr>
              <a:t>Factual Accuracy &gt; 95%</a:t>
            </a:r>
            <a:endParaRPr lang="en-US" sz="109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931" y="1169789"/>
            <a:ext cx="3407569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85725" cy="312539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-1" kern="0" dirty="0">
                <a:solidFill>
                  <a:srgbClr val="000000"/>
                </a:solidFill>
              </a:rPr>
              <a:t>User Story 3: Long-Context Data Processing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026914"/>
            <a:ext cx="4286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52BA"/>
                </a:solidFill>
              </a:rPr>
              <a:t>User: Data Scientist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1293019"/>
            <a:ext cx="4286250" cy="89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"I want to process very large datasets (500k+ tokens) efficiently, so that I can generate comprehensive summaries without context limits or excessive latency."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571500" y="2627449"/>
            <a:ext cx="4286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Technical Requirements</a:t>
            </a:r>
            <a:endParaRPr lang="en-US" sz="784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000710"/>
            <a:ext cx="121946" cy="128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0602" y="2889982"/>
            <a:ext cx="405714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Vertex AI Context Caching: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Reduce TCO and latency for repeated 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data access.</a:t>
            </a:r>
            <a:endParaRPr lang="en-US" sz="88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36479"/>
            <a:ext cx="112709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1366" y="3325750"/>
            <a:ext cx="4066384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Gemini 1.5 Pro Integration: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Leverage 1M+ token context window 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for deep synthesis.</a:t>
            </a:r>
            <a:endParaRPr lang="en-US" sz="885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72247"/>
            <a:ext cx="130569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9225" y="3761519"/>
            <a:ext cx="4048525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Vertex AI Search: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Seamless retrieval from enterprise knowledge 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sources.</a:t>
            </a:r>
            <a:endParaRPr lang="en-US" sz="885" dirty="0"/>
          </a:p>
        </p:txBody>
      </p:sp>
      <p:sp>
        <p:nvSpPr>
          <p:cNvPr id="15" name="Shape 9"/>
          <p:cNvSpPr/>
          <p:nvPr/>
        </p:nvSpPr>
        <p:spPr>
          <a:xfrm>
            <a:off x="5143500" y="1026914"/>
            <a:ext cx="3429000" cy="1928813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026914"/>
            <a:ext cx="3429000" cy="1928813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143500" y="3170039"/>
            <a:ext cx="3429000" cy="12858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1"/>
          <p:cNvSpPr/>
          <p:nvPr/>
        </p:nvSpPr>
        <p:spPr>
          <a:xfrm>
            <a:off x="5357813" y="3384352"/>
            <a:ext cx="3000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52BA"/>
                </a:solidFill>
              </a:rPr>
              <a:t>Pass/Fail Metric</a:t>
            </a:r>
            <a:endParaRPr lang="en-US" sz="683" dirty="0"/>
          </a:p>
        </p:txBody>
      </p:sp>
      <p:sp>
        <p:nvSpPr>
          <p:cNvPr id="19" name="Text 12"/>
          <p:cNvSpPr/>
          <p:nvPr/>
        </p:nvSpPr>
        <p:spPr>
          <a:xfrm>
            <a:off x="5357813" y="3591520"/>
            <a:ext cx="30003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2F2F2"/>
                </a:solidFill>
              </a:rPr>
              <a:t>&gt; 50%</a:t>
            </a:r>
            <a:endParaRPr lang="en-US" sz="2436" dirty="0"/>
          </a:p>
        </p:txBody>
      </p:sp>
      <p:sp>
        <p:nvSpPr>
          <p:cNvPr id="20" name="Text 13"/>
          <p:cNvSpPr/>
          <p:nvPr/>
        </p:nvSpPr>
        <p:spPr>
          <a:xfrm>
            <a:off x="5357813" y="4093369"/>
            <a:ext cx="30003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2F2F2">
                    <a:alpha val="80000"/>
                  </a:srgbClr>
                </a:solidFill>
              </a:rPr>
              <a:t>Latency reduction for subsequent accesses via Context Caching.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F52BA"/>
                </a:solidFill>
              </a:rPr>
              <a:t>User Story 4: Governance &amp; Observability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669727"/>
            <a:ext cx="8001000" cy="19466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669727"/>
            <a:ext cx="35719" cy="194667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669727"/>
            <a:ext cx="8001000" cy="19466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Role: DevOps Engineer | Goal: Full visibility into execution path and security posture.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1221581"/>
            <a:ext cx="41148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Key Technical Requirements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571500" y="1468041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F52BA"/>
                </a:solidFill>
              </a:rPr>
              <a:t>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750094" y="1475184"/>
            <a:ext cx="3884023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**Observability:** End-to-end tracing via **OpenTelemetry** and Cloud Trace to capture all agent steps and tool calls.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571500" y="1896666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F52BA"/>
                </a:solidFill>
              </a:rPr>
              <a:t>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750094" y="1903809"/>
            <a:ext cx="3643675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**Security:** Strong guardrails using **Vertex AI Model Armor** to block PII and prohibited content.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571500" y="2325291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F52BA"/>
                </a:solidFill>
              </a:rPr>
              <a:t>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750094" y="2332434"/>
            <a:ext cx="3631090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**LLM Ops:** Evaluation pipeline using **AutoSxS** for systematic model benchmarking against golden datasets.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571500" y="2753916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F52BA"/>
                </a:solidFill>
              </a:rPr>
              <a:t>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750094" y="2761059"/>
            <a:ext cx="3885056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**Auditability:** Comprehensive Cloud Logging for all agent trajectories and model invocations.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571500" y="3311128"/>
            <a:ext cx="4114800" cy="8572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714375" y="3454003"/>
            <a:ext cx="38290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2F2F2"/>
                </a:solidFill>
              </a:rPr>
              <a:t>Pass/Fail Metric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714375" y="3589734"/>
            <a:ext cx="38290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F52BA"/>
                </a:solidFill>
              </a:rPr>
              <a:t>Security Compliance: 100%</a:t>
            </a:r>
            <a:endParaRPr lang="en-US" sz="1397" dirty="0"/>
          </a:p>
        </p:txBody>
      </p:sp>
      <p:sp>
        <p:nvSpPr>
          <p:cNvPr id="19" name="Text 16"/>
          <p:cNvSpPr/>
          <p:nvPr/>
        </p:nvSpPr>
        <p:spPr>
          <a:xfrm>
            <a:off x="714375" y="3898702"/>
            <a:ext cx="38290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2F2F2"/>
                </a:solidFill>
              </a:rPr>
              <a:t>Zero tolerance for PII or prohibited content processing.</a:t>
            </a:r>
            <a:endParaRPr lang="en-US" sz="727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319" y="1078706"/>
            <a:ext cx="3871913" cy="35861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028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285750"/>
            <a:ext cx="8001000" cy="31253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285750"/>
            <a:ext cx="71438" cy="31253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285750"/>
            <a:ext cx="800100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F52BA"/>
                </a:solidFill>
              </a:rPr>
              <a:t>Summary: Production-Ready Agentic AI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026914"/>
            <a:ext cx="416480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000000"/>
                </a:solidFill>
              </a:rPr>
              <a:t>Project Success Criteria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571500" y="1410891"/>
            <a:ext cx="85725" cy="85725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8" name="Text 5"/>
          <p:cNvSpPr/>
          <p:nvPr/>
        </p:nvSpPr>
        <p:spPr>
          <a:xfrm>
            <a:off x="750094" y="1382316"/>
            <a:ext cx="3052809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**Verifiable Accuracy:** &gt;95% Factual Accuracy via Critic/Reviewer agents.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571500" y="1908051"/>
            <a:ext cx="85725" cy="85725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10" name="Text 7"/>
          <p:cNvSpPr/>
          <p:nvPr/>
        </p:nvSpPr>
        <p:spPr>
          <a:xfrm>
            <a:off x="750094" y="1879476"/>
            <a:ext cx="3746925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**GCP-Native Scale:** Leveraging Vertex AI Agent Builder and Gemini 1.5.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571500" y="2405211"/>
            <a:ext cx="85725" cy="85725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12" name="Text 9"/>
          <p:cNvSpPr/>
          <p:nvPr/>
        </p:nvSpPr>
        <p:spPr>
          <a:xfrm>
            <a:off x="750094" y="2376636"/>
            <a:ext cx="3937099" cy="38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**Measurable Performance:** Meeting all story-specific Pass/Fail thresholds.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71500" y="3002384"/>
            <a:ext cx="4164806" cy="448270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000000"/>
                </a:solidFill>
              </a:rPr>
              <a:t>Immediate Next Steps</a:t>
            </a:r>
            <a:endParaRPr lang="en-US" sz="1193" dirty="0"/>
          </a:p>
        </p:txBody>
      </p:sp>
      <p:sp>
        <p:nvSpPr>
          <p:cNvPr id="14" name="Shape 11"/>
          <p:cNvSpPr/>
          <p:nvPr/>
        </p:nvSpPr>
        <p:spPr>
          <a:xfrm>
            <a:off x="571500" y="3600673"/>
            <a:ext cx="85725" cy="85725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15" name="Text 12"/>
          <p:cNvSpPr/>
          <p:nvPr/>
        </p:nvSpPr>
        <p:spPr>
          <a:xfrm>
            <a:off x="750094" y="3572098"/>
            <a:ext cx="38445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Finalize technical design documents and A2A protocol schemas.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571500" y="3892116"/>
            <a:ext cx="85725" cy="85725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17" name="Text 14"/>
          <p:cNvSpPr/>
          <p:nvPr/>
        </p:nvSpPr>
        <p:spPr>
          <a:xfrm>
            <a:off x="750094" y="3863541"/>
            <a:ext cx="39774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Begin Phase 1: Foundational Infrastructure Setup (AlloyDB, Redis).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571500" y="4183559"/>
            <a:ext cx="85725" cy="85725"/>
          </a:xfrm>
          <a:prstGeom prst="rect">
            <a:avLst/>
          </a:prstGeom>
          <a:solidFill>
            <a:srgbClr val="0F52BA"/>
          </a:solidFill>
          <a:ln/>
        </p:spPr>
      </p:sp>
      <p:sp>
        <p:nvSpPr>
          <p:cNvPr id="19" name="Text 16"/>
          <p:cNvSpPr/>
          <p:nvPr/>
        </p:nvSpPr>
        <p:spPr>
          <a:xfrm>
            <a:off x="750094" y="4154984"/>
            <a:ext cx="38071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Establish **AutoSxS** golden dataset for initial benchmarking.</a:t>
            </a:r>
            <a:endParaRPr lang="en-US" sz="942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644" y="1119783"/>
            <a:ext cx="3436144" cy="3243263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71500" y="4598789"/>
            <a:ext cx="800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571500" y="4598789"/>
            <a:ext cx="80010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19"/>
          <p:cNvSpPr/>
          <p:nvPr/>
        </p:nvSpPr>
        <p:spPr>
          <a:xfrm>
            <a:off x="571500" y="4598789"/>
            <a:ext cx="8001000" cy="28575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333333"/>
                </a:solidFill>
              </a:rPr>
              <a:t>Deep Research Multi-Agent System | Project Kickoff 2026</a:t>
            </a:r>
            <a:endParaRPr lang="en-US" sz="6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2026-01-30T02:26:36Z</dcterms:created>
  <dcterms:modified xsi:type="dcterms:W3CDTF">2026-01-30T02:26:36Z</dcterms:modified>
</cp:coreProperties>
</file>